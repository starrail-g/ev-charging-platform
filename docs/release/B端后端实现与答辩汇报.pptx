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21792"/>
            <a:ext cx="146304" cy="5349240"/>
          </a:xfrm>
          <a:prstGeom prst="rect">
            <a:avLst/>
          </a:prstGeom>
          <a:solidFill>
            <a:srgbClr val="0B8F8C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9875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9EDBD5"/>
                </a:solidFill>
                <a:latin typeface="Noto Sans CJK SC"/>
              </a:rPr>
              <a:t>东软电动汽车充电桩应用管理平台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987552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Noto Sans CJK SC"/>
              </a:rPr>
              <a:t>B 端后端实现
与答辩汇报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63240"/>
            <a:ext cx="8686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D9EAF2"/>
                </a:solidFill>
                <a:latin typeface="Noto Sans CJK SC"/>
              </a:rPr>
              <a:t>服务端 · Socket 协议 · SQLite · 地图服务 · 桩模拟器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3858768"/>
            <a:ext cx="7086600" cy="0"/>
          </a:xfrm>
          <a:prstGeom prst="line">
            <a:avLst/>
          </a:prstGeom>
          <a:ln w="12700">
            <a:solidFill>
              <a:srgbClr val="3D5C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4096512"/>
            <a:ext cx="8046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BBD1DE"/>
                </a:solidFill>
                <a:latin typeface="Noto Sans CJK SC"/>
              </a:rPr>
              <a:t>阶段一完成版 | 代码逻辑、数据一致性与验证证据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92040"/>
            <a:ext cx="1143000" cy="274320"/>
          </a:xfrm>
          <a:prstGeom prst="roundRect">
            <a:avLst/>
          </a:prstGeom>
          <a:solidFill>
            <a:srgbClr val="21435C"/>
          </a:solidFill>
          <a:ln w="12700"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905755"/>
            <a:ext cx="114300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1" i="0">
                <a:solidFill>
                  <a:srgbClr val="9EDBD5"/>
                </a:solidFill>
                <a:latin typeface="Noto Sans CJK SC"/>
              </a:rPr>
              <a:t>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4892040"/>
            <a:ext cx="1325880" cy="274320"/>
          </a:xfrm>
          <a:prstGeom prst="roundRect">
            <a:avLst/>
          </a:prstGeom>
          <a:solidFill>
            <a:srgbClr val="21435C"/>
          </a:solidFill>
          <a:ln w="12700"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4905755"/>
            <a:ext cx="13258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1" i="0">
                <a:solidFill>
                  <a:srgbClr val="9EDBD5"/>
                </a:solidFill>
                <a:latin typeface="Noto Sans CJK SC"/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892040"/>
            <a:ext cx="822960" cy="274320"/>
          </a:xfrm>
          <a:prstGeom prst="roundRect">
            <a:avLst/>
          </a:prstGeom>
          <a:solidFill>
            <a:srgbClr val="21435C"/>
          </a:solidFill>
          <a:ln w="12700"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4905755"/>
            <a:ext cx="8229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1" i="0">
                <a:solidFill>
                  <a:srgbClr val="9EDBD5"/>
                </a:solidFill>
                <a:latin typeface="Noto Sans CJK SC"/>
              </a:rPr>
              <a:t>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4892040"/>
            <a:ext cx="1325880" cy="274320"/>
          </a:xfrm>
          <a:prstGeom prst="roundRect">
            <a:avLst/>
          </a:prstGeom>
          <a:solidFill>
            <a:srgbClr val="21435C"/>
          </a:solidFill>
          <a:ln w="12700"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4905755"/>
            <a:ext cx="13258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1" i="0">
                <a:solidFill>
                  <a:srgbClr val="9EDBD5"/>
                </a:solidFill>
                <a:latin typeface="Noto Sans CJK SC"/>
              </a:rPr>
              <a:t>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5943600"/>
            <a:ext cx="1417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0" i="0">
                <a:solidFill>
                  <a:srgbClr val="9FB8C8"/>
                </a:solidFill>
                <a:latin typeface="DejaVu Sans"/>
              </a:rPr>
              <a:t>2026.09.10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01 · 交付边界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B 端交付全景：把状态、数据和外部能力收回服务端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554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0B8F8C"/>
                </a:solidFill>
                <a:latin typeface="Noto Sans CJK SC"/>
              </a:rPr>
              <a:t>核心原则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52120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Noto Sans CJK SC"/>
              </a:rPr>
              <a:t>客户端只发请求；服务端是业务状态唯一写入者。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87168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2514600" cy="109728"/>
          </a:xfrm>
          <a:prstGeom prst="rect">
            <a:avLst/>
          </a:prstGeom>
          <a:solidFill>
            <a:srgbClr val="0B8F8C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761488"/>
            <a:ext cx="21854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Noto Sans CJK SC"/>
              </a:rPr>
              <a:t>服务端业务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Socket 多客户端接入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用户 / 管理员 / 订单状态机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统一错误码与响应封装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487168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487168"/>
            <a:ext cx="2514600" cy="109728"/>
          </a:xfrm>
          <a:prstGeom prst="rect">
            <a:avLst/>
          </a:prstGeom>
          <a:solidFill>
            <a:srgbClr val="2F6BDB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761488"/>
            <a:ext cx="21854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Noto Sans CJK SC"/>
              </a:rPr>
              <a:t>协议与数据库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24612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Protocol v1 帧与 envelope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SQLite Schema v0.4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事务、幂等、迁移回滚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2487168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2487168"/>
            <a:ext cx="2514600" cy="109728"/>
          </a:xfrm>
          <a:prstGeom prst="rect">
            <a:avLst/>
          </a:prstGeom>
          <a:solidFill>
            <a:srgbClr val="D96C3A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761488"/>
            <a:ext cx="21854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Noto Sans CJK SC"/>
              </a:rPr>
              <a:t>地图服务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24612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Tencent WebService adapter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缓存 / stale / mock / 审计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站点 upsert 与桩生成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2487168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3104" y="2487168"/>
            <a:ext cx="2514600" cy="109728"/>
          </a:xfrm>
          <a:prstGeom prst="rect">
            <a:avLst/>
          </a:prstGeom>
          <a:solidFill>
            <a:srgbClr val="7452A8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2761488"/>
            <a:ext cx="21854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Noto Sans CJK SC"/>
              </a:rPr>
              <a:t>桩模拟器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324612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SQLite-free deterministic planner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server gateway 原子校验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243B53"/>
                </a:solidFill>
                <a:latin typeface="Noto Sans CJK SC"/>
              </a:defRPr>
            </a:pPr>
            <a:r>
              <a:t>• 持久化 tick 与命令反馈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57800"/>
            <a:ext cx="10661904" cy="5669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312664"/>
            <a:ext cx="1044244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最终效果：A/C 端只依赖契约，B 端集中保证正确性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02 · 架构与链路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系统架构：一条 Socket 链路承载三类业务流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97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27D98"/>
                </a:solidFill>
                <a:latin typeface="Noto Sans CJK SC"/>
              </a:rPr>
              <a:t>数据方向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371600"/>
            <a:ext cx="795527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Noto Sans CJK SC"/>
              </a:rPr>
              <a:t>请求进入 server → 业务校验 → Database 事务 → 响应回传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29968"/>
            <a:ext cx="2057400" cy="1234440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76272"/>
            <a:ext cx="1837943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02A43"/>
                </a:solidFill>
                <a:latin typeface="Noto Sans CJK SC"/>
              </a:rPr>
              <a:t>Qt 用户端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60320"/>
            <a:ext cx="1801368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 i="0">
                <a:solidFill>
                  <a:srgbClr val="243B53"/>
                </a:solidFill>
                <a:latin typeface="Noto Sans CJK SC"/>
              </a:rPr>
              <a:t>user.login
reservation.*
charging.*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2057400" cy="1234440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941064"/>
            <a:ext cx="1837943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02A43"/>
                </a:solidFill>
                <a:latin typeface="Noto Sans CJK SC"/>
              </a:rPr>
              <a:t>Qt 管理端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325112"/>
            <a:ext cx="1801368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 i="0">
                <a:solidFill>
                  <a:srgbClr val="243B53"/>
                </a:solidFill>
                <a:latin typeface="Noto Sans CJK SC"/>
              </a:rPr>
              <a:t>admin.*
statistics /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779776"/>
            <a:ext cx="2194560" cy="1508760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926080"/>
            <a:ext cx="19751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02A43"/>
                </a:solidFill>
                <a:latin typeface="Noto Sans CJK SC"/>
              </a:rPr>
              <a:t>Protocol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5" y="3310128"/>
            <a:ext cx="1938528" cy="89611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 i="0">
                <a:solidFill>
                  <a:srgbClr val="243B53"/>
                </a:solidFill>
                <a:latin typeface="Noto Sans CJK SC"/>
              </a:rPr>
              <a:t>4-byte length
UTF-8 JSON
≤ 1 MiB envelope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779776"/>
            <a:ext cx="2148840" cy="1508760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926080"/>
            <a:ext cx="1929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02A43"/>
                </a:solidFill>
                <a:latin typeface="Noto Sans CJK SC"/>
              </a:rPr>
              <a:t>EV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5" y="3310128"/>
            <a:ext cx="1892808" cy="89611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 i="0">
                <a:solidFill>
                  <a:srgbClr val="243B53"/>
                </a:solidFill>
                <a:latin typeface="Noto Sans CJK SC"/>
              </a:rPr>
              <a:t>dispatcher
handlers
error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779776"/>
            <a:ext cx="1874519" cy="150876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7" y="2926080"/>
            <a:ext cx="1655063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02A43"/>
                </a:solidFill>
                <a:latin typeface="Noto Sans CJK SC"/>
              </a:rPr>
              <a:t>SQLite v0.4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3310128"/>
            <a:ext cx="1618487" cy="89611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 i="0">
                <a:solidFill>
                  <a:srgbClr val="243B53"/>
                </a:solidFill>
                <a:latin typeface="Noto Sans CJK SC"/>
              </a:rPr>
              <a:t>state
ledger
audits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88920" y="2651760"/>
            <a:ext cx="960119" cy="877824"/>
          </a:xfrm>
          <a:prstGeom prst="line">
            <a:avLst/>
          </a:prstGeom>
          <a:ln w="25400">
            <a:solidFill>
              <a:srgbClr val="0B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88920" y="3529584"/>
            <a:ext cx="960119" cy="886968"/>
          </a:xfrm>
          <a:prstGeom prst="line">
            <a:avLst/>
          </a:prstGeom>
          <a:ln w="25400">
            <a:solidFill>
              <a:srgbClr val="0B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43600" y="3529584"/>
            <a:ext cx="777240" cy="0"/>
          </a:xfrm>
          <a:prstGeom prst="line">
            <a:avLst/>
          </a:prstGeom>
          <a:ln w="25400">
            <a:solidFill>
              <a:srgbClr val="D96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69680" y="3529584"/>
            <a:ext cx="685800" cy="0"/>
          </a:xfrm>
          <a:prstGeom prst="line">
            <a:avLst/>
          </a:prstGeom>
          <a:ln w="25400">
            <a:solidFill>
              <a:srgbClr val="74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5257800"/>
            <a:ext cx="10698480" cy="566928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EA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312664"/>
            <a:ext cx="1047902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102A43"/>
                </a:solidFill>
                <a:latin typeface="Noto Sans CJK SC"/>
              </a:rPr>
              <a:t>外部能力：Tencent HTTP 只在 server 内部出现；桩模拟器不打开 SQLite。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03 · 通信与分发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Protocol v1：先保证帧完整，再进入业务分发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800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0B8F8C"/>
                </a:solidFill>
                <a:latin typeface="Noto Sans CJK SC"/>
              </a:rPr>
              <a:t>帧格式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618488"/>
            <a:ext cx="1051560" cy="585216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682496"/>
            <a:ext cx="10515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D96C3A"/>
                </a:solidFill>
                <a:latin typeface="Noto Sans CJK SC"/>
              </a:rPr>
              <a:t>4 bytes
BE 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18488"/>
            <a:ext cx="2103120" cy="585216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1792224"/>
            <a:ext cx="193852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1" i="0">
                <a:solidFill>
                  <a:srgbClr val="0B8F8C"/>
                </a:solidFill>
                <a:latin typeface="Noto Sans CJK SC"/>
              </a:rPr>
              <a:t>UTF-8 JSON envelope ≤ 1 MiB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67712"/>
            <a:ext cx="43159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27D98"/>
                </a:solidFill>
                <a:latin typeface="Noto Sans CJK SC"/>
              </a:rPr>
              <a:t>decoder 支持半包 / 粘包；同批好帧先分发，坏帧再返回错误并只关闭当前会话。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52928"/>
            <a:ext cx="5212080" cy="214884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944368"/>
            <a:ext cx="488289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libs/protocol/src/frame_codec.cpp:41-49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200400"/>
            <a:ext cx="4882896" cy="1709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const quint32 size = (quint32(raw[0]) &lt;&lt; 24)
                  | (quint32(raw[1]) &lt;&lt; 16)
                  | (quint32(raw[2]) &lt;&lt; 8)
                  | quint32(raw[3]);
if (size == 0 || size &gt; kMaxPayloadBytes)
    return InvalidFrame;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417320"/>
            <a:ext cx="5303520" cy="214884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508760"/>
            <a:ext cx="497433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server/src/main.cpp:143-177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764792"/>
            <a:ext cx="4974336" cy="1709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if (request.type == "user.login")
    handleUserLogin(request);
else if (request.type == "map.station.search")
    handleMapStationSearch(request);
else if (request.type == "simulator.tick")
    handleSimulatorTick(request);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86200"/>
            <a:ext cx="475488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00">
                <a:solidFill>
                  <a:srgbClr val="243B53"/>
                </a:solidFill>
                <a:latin typeface="Noto Sans CJK SC"/>
              </a:defRPr>
            </a:pPr>
            <a:r>
              <a:t>• 统一 envelope：v / id / type / payload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00">
                <a:solidFill>
                  <a:srgbClr val="243B53"/>
                </a:solidFill>
                <a:latin typeface="Noto Sans CJK SC"/>
              </a:defRPr>
            </a:pPr>
            <a:r>
              <a:t>• 错误分支按 code 判断，不按 message 文本判断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00">
                <a:solidFill>
                  <a:srgbClr val="243B53"/>
                </a:solidFill>
                <a:latin typeface="Noto Sans CJK SC"/>
              </a:defRPr>
            </a:pPr>
            <a:r>
              <a:t>• 地图响应和管理员列表都复用同一 1 MiB 防线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5349240"/>
            <a:ext cx="5303520" cy="5669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5404103"/>
            <a:ext cx="508406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讲解重点：协议层解决“消息能否被正确读到”，业务层解决“请求是否允许发生”。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04 · 数据与迁移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SQLite Schema v0.4：把业务事实、审计事实分开存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27D98"/>
                </a:solidFill>
                <a:latin typeface="Noto Sans CJK SC"/>
              </a:rPr>
              <a:t>实体分层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011680" cy="1572768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29384"/>
            <a:ext cx="1792224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核心状态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286000"/>
            <a:ext cx="1719072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users
stations
charging_piles
charging_orders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1783080"/>
            <a:ext cx="2011680" cy="1572768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29384"/>
            <a:ext cx="1792224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资金与幂等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286000"/>
            <a:ext cx="1719072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wallet_transactions
request_records
pile_restart_logs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1783080"/>
            <a:ext cx="2011680" cy="1572768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929384"/>
            <a:ext cx="1792224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地图审计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286000"/>
            <a:ext cx="1719072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map_request_logs
map_upstream_call_logs
map_cache_entries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1783080"/>
            <a:ext cx="2011680" cy="1572768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929384"/>
            <a:ext cx="1792224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模拟器审计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286000"/>
            <a:ext cx="1719072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pile_status_events
simulation_state
simulation_tick_records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783080"/>
            <a:ext cx="1691640" cy="157276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2011680"/>
            <a:ext cx="146304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SC"/>
              </a:rPr>
              <a:t>只读视图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8" y="2505456"/>
            <a:ext cx="138988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D9EAF2"/>
                </a:solidFill>
                <a:latin typeface="Noto Sans CJK SC"/>
              </a:rPr>
              <a:t>station_pile_status
revenue_daily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25712" y="2560320"/>
            <a:ext cx="612648" cy="0"/>
          </a:xfrm>
          <a:prstGeom prst="line">
            <a:avLst/>
          </a:prstGeom>
          <a:ln w="22860">
            <a:solidFill>
              <a:srgbClr val="74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886200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27D98"/>
                </a:solidFill>
                <a:latin typeface="Noto Sans CJK SC"/>
              </a:rPr>
              <a:t>迁移链路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224528"/>
            <a:ext cx="1600200" cy="822960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407408"/>
            <a:ext cx="14538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1" i="0">
                <a:solidFill>
                  <a:srgbClr val="102A43"/>
                </a:solidFill>
                <a:latin typeface="Noto Sans CJK SC"/>
              </a:rPr>
              <a:t>v0.3
已有库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4224528"/>
            <a:ext cx="1600200" cy="822960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407408"/>
            <a:ext cx="14538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1" i="0">
                <a:solidFill>
                  <a:srgbClr val="102A43"/>
                </a:solidFill>
                <a:latin typeface="Noto Sans CJK SC"/>
              </a:rPr>
              <a:t>BEGIN
IMMEDIATE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4224528"/>
            <a:ext cx="1600200" cy="822960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48072" y="4407408"/>
            <a:ext cx="14538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1" i="0">
                <a:solidFill>
                  <a:srgbClr val="102A43"/>
                </a:solidFill>
                <a:latin typeface="Noto Sans CJK SC"/>
              </a:rPr>
              <a:t>003_v0.3_to_v0.4
一次性变更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224528"/>
            <a:ext cx="1600200" cy="82296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4407408"/>
            <a:ext cx="14538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1" i="0">
                <a:solidFill>
                  <a:srgbClr val="102A43"/>
                </a:solidFill>
                <a:latin typeface="Noto Sans CJK SC"/>
              </a:rPr>
              <a:t>PRAGMA
foreign_key_check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4224528"/>
            <a:ext cx="1600200" cy="822960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11512" y="4407408"/>
            <a:ext cx="14538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1" i="0">
                <a:solidFill>
                  <a:srgbClr val="102A43"/>
                </a:solidFill>
                <a:latin typeface="Noto Sans CJK SC"/>
              </a:rPr>
              <a:t>v0.4
可运行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4636008"/>
            <a:ext cx="411480" cy="0"/>
          </a:xfrm>
          <a:prstGeom prst="line">
            <a:avLst/>
          </a:prstGeom>
          <a:ln w="2032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17720" y="4636008"/>
            <a:ext cx="411480" cy="0"/>
          </a:xfrm>
          <a:prstGeom prst="line">
            <a:avLst/>
          </a:prstGeom>
          <a:ln w="2032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32320" y="4636008"/>
            <a:ext cx="411480" cy="0"/>
          </a:xfrm>
          <a:prstGeom prst="line">
            <a:avLst/>
          </a:prstGeom>
          <a:ln w="2032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26880" y="4636008"/>
            <a:ext cx="411479" cy="0"/>
          </a:xfrm>
          <a:prstGeom prst="line">
            <a:avLst/>
          </a:prstGeom>
          <a:ln w="2032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" y="5440680"/>
            <a:ext cx="10744200" cy="530352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F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5495544"/>
            <a:ext cx="10524744" cy="420623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D96C3A"/>
                </a:solidFill>
                <a:latin typeface="Noto Sans CJK SC"/>
              </a:rPr>
              <a:t>失败时整体回滚：版本号、旧数据、索引和新表不会留下半成品。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05 · 核心业务逻辑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订单生命周期：四次状态转换，三次关键事务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664208" cy="804672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029968"/>
            <a:ext cx="151790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50" b="1" i="0">
                <a:solidFill>
                  <a:srgbClr val="102A43"/>
                </a:solidFill>
                <a:latin typeface="Noto Sans CJK SC"/>
              </a:rPr>
              <a:t>pending_
reservation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1874519"/>
            <a:ext cx="1664208" cy="804672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2029968"/>
            <a:ext cx="151790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50" b="1" i="0">
                <a:solidFill>
                  <a:srgbClr val="102A43"/>
                </a:solidFill>
                <a:latin typeface="Noto Sans CJK SC"/>
              </a:rPr>
              <a:t>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874519"/>
            <a:ext cx="1664208" cy="804672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2029968"/>
            <a:ext cx="151790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50" b="1" i="0">
                <a:solidFill>
                  <a:srgbClr val="102A43"/>
                </a:solidFill>
                <a:latin typeface="Noto Sans CJK SC"/>
              </a:rPr>
              <a:t>charging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77456" y="1874519"/>
            <a:ext cx="1664208" cy="804672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2029968"/>
            <a:ext cx="151790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50" b="1" i="0">
                <a:solidFill>
                  <a:srgbClr val="102A43"/>
                </a:solidFill>
                <a:latin typeface="Noto Sans CJK SC"/>
              </a:rPr>
              <a:t>pending_
settlement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7152" y="1874519"/>
            <a:ext cx="1664208" cy="804672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0304" y="2029968"/>
            <a:ext cx="151790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50" b="1" i="0">
                <a:solidFill>
                  <a:srgbClr val="102A43"/>
                </a:solidFill>
                <a:latin typeface="Noto Sans CJK SC"/>
              </a:rPr>
              <a:t>completed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22576" y="2276856"/>
            <a:ext cx="475488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9424" y="2587752"/>
            <a:ext cx="640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50" b="0" i="0">
                <a:solidFill>
                  <a:srgbClr val="627D98"/>
                </a:solidFill>
                <a:latin typeface="Noto Sans CJK SC"/>
              </a:rPr>
              <a:t>confirm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62272" y="2276856"/>
            <a:ext cx="475488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9120" y="2587752"/>
            <a:ext cx="640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50" b="0" i="0">
                <a:solidFill>
                  <a:srgbClr val="627D98"/>
                </a:solidFill>
                <a:latin typeface="Noto Sans CJK SC"/>
              </a:rPr>
              <a:t>start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01968" y="2276856"/>
            <a:ext cx="475488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28816" y="2587752"/>
            <a:ext cx="640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50" b="0" i="0">
                <a:solidFill>
                  <a:srgbClr val="627D98"/>
                </a:solidFill>
                <a:latin typeface="Noto Sans CJK SC"/>
              </a:rPr>
              <a:t>stop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41664" y="2276856"/>
            <a:ext cx="475488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68512" y="2587752"/>
            <a:ext cx="640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50" b="0" i="0">
                <a:solidFill>
                  <a:srgbClr val="627D98"/>
                </a:solidFill>
                <a:latin typeface="Noto Sans CJK SC"/>
              </a:rPr>
              <a:t>settle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91840"/>
            <a:ext cx="3401568" cy="1856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520440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B8F8C"/>
                </a:solidFill>
                <a:latin typeface="Noto Sans CJK SC"/>
              </a:rPr>
              <a:t>事务 1：预约 / 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31920"/>
            <a:ext cx="2834640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校验用户 frozen、未完成订单、桩 idle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订单与桩状态同一事务更新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唯一索引阻止重复占用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291840"/>
            <a:ext cx="3401568" cy="1856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520440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D96C3A"/>
                </a:solidFill>
                <a:latin typeface="Noto Sans CJK SC"/>
              </a:rPr>
              <a:t>事务 2：停止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3931920"/>
            <a:ext cx="2834640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charging → pending_settlement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计算金额并立即释放桩为 idle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结算前订单仍保留待付款事实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291840"/>
            <a:ext cx="3401568" cy="1856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520440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7452A8"/>
                </a:solidFill>
                <a:latin typeface="Noto Sans CJK SC"/>
              </a:rPr>
              <a:t>事务 3：结算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931920"/>
            <a:ext cx="2834640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余额不足：全部不变，返回 1202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钱包、流水、订单、计数原子更新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243B53"/>
                </a:solidFill>
                <a:latin typeface="Noto Sans CJK SC"/>
              </a:defRPr>
            </a:pPr>
            <a:r>
              <a:t>• 成功后 completed，桩状态不被回写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532120"/>
            <a:ext cx="10789920" cy="4754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586983"/>
            <a:ext cx="1057046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状态机的价值：把“用户看到的状态”和“数据库里的事实”绑定在同一提交点。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06 · 可靠性设计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一致性机制：锁住写入、记住请求、显式返回冲突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874519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00200"/>
            <a:ext cx="309981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libs/database/src/database.cpp:362-367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1"/>
            <a:ext cx="3099816" cy="143560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if (!query.exec("BEGIN IMMEDIATE"))
    return DatabaseError;
// write order + wallet + ledger
// commit or rollback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00200"/>
            <a:ext cx="309981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libs/database/src/database.cpp:717-756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1"/>
            <a:ext cx="3099816" cy="143560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SELECT operation, fingerprint, response_json
FROM request_records
WHERE request_id = :id;
// same id + same fingerprint =&gt; replay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429000" cy="1874519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600200"/>
            <a:ext cx="309981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libs/database/src/database.cpp:2742-2751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56231"/>
            <a:ext cx="3099816" cy="143560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if (currentSeed != seedId
    || expected != currentVersion)
    return Conflict;
// stale proposal never overwrites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68496"/>
            <a:ext cx="2103120" cy="1307592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114800"/>
            <a:ext cx="184708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并发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471416"/>
            <a:ext cx="184708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BEGIN IMMEDIATE
同一空闲桩不能被双抢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3968496"/>
            <a:ext cx="2103120" cy="1307592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4114800"/>
            <a:ext cx="184708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4471416"/>
            <a:ext cx="184708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request_id + fingerprint
超时后原样重放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3968496"/>
            <a:ext cx="2103120" cy="1307592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114800"/>
            <a:ext cx="184708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471416"/>
            <a:ext cx="184708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1101
阻止新订单，不抹掉历史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2016" y="3968496"/>
            <a:ext cx="2103120" cy="1307592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4114800"/>
            <a:ext cx="184708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02A43"/>
                </a:solidFill>
                <a:latin typeface="Noto Sans CJK SC"/>
              </a:rPr>
              <a:t>冲突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4471416"/>
            <a:ext cx="184708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243B53"/>
                </a:solidFill>
                <a:latin typeface="Noto Sans CJK SC"/>
              </a:rPr>
              <a:t>1201 / 1202
调用方可区分处理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596128"/>
            <a:ext cx="10789920" cy="457200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E2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650992"/>
            <a:ext cx="1057046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2C8C5A"/>
                </a:solidFill>
                <a:latin typeface="Noto Sans CJK SC"/>
              </a:rPr>
              <a:t>不是“尽量成功”，而是每一次失败都留下可解释的业务结果。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07 · 管理接口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管理员后端：Token 只解决身份，业务仍由数据库规则裁决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749039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64208"/>
            <a:ext cx="12801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2F6BDB"/>
                </a:solidFill>
                <a:latin typeface="Noto Sans CJK SC"/>
              </a:rPr>
              <a:t>认证链路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3246120" cy="749808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67712"/>
            <a:ext cx="12344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Noto Sans CJK SC"/>
              </a:rPr>
              <a:t>admin.login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258568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80" b="0" i="0">
                <a:solidFill>
                  <a:srgbClr val="243B53"/>
                </a:solidFill>
                <a:latin typeface="Noto Sans CJK SC"/>
              </a:rPr>
              <a:t>username + password
→ process-local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227832"/>
            <a:ext cx="3246120" cy="749808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346703"/>
            <a:ext cx="12344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Noto Sans CJK SC"/>
              </a:rPr>
              <a:t>admin.*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337560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80" b="0" i="0">
                <a:solidFill>
                  <a:srgbClr val="243B53"/>
                </a:solidFill>
                <a:latin typeface="Noto Sans CJK SC"/>
              </a:rPr>
              <a:t>token 必须存在且未过期
mutation 还需 administrator_id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306824"/>
            <a:ext cx="3246120" cy="749808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425696"/>
            <a:ext cx="12344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Noto Sans CJK SC"/>
              </a:rPr>
              <a:t>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416552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80" b="0" i="0">
                <a:solidFill>
                  <a:srgbClr val="243B53"/>
                </a:solidFill>
                <a:latin typeface="Noto Sans CJK SC"/>
              </a:rPr>
              <a:t>授权通过后
进入同一 Database 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2898648"/>
            <a:ext cx="0" cy="329184"/>
          </a:xfrm>
          <a:prstGeom prst="line">
            <a:avLst/>
          </a:prstGeom>
          <a:ln w="1778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0320" y="3977639"/>
            <a:ext cx="0" cy="329185"/>
          </a:xfrm>
          <a:prstGeom prst="line">
            <a:avLst/>
          </a:prstGeom>
          <a:ln w="1778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0" y="1417320"/>
            <a:ext cx="66751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664208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0B8F8C"/>
                </a:solidFill>
                <a:latin typeface="Noto Sans CJK SC"/>
              </a:rPr>
              <a:t>接口组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048256"/>
            <a:ext cx="5989320" cy="10789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statistics：7d / 30d UTC 日历营收、订单数、能耗、利用率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station / pile：站点管理、全量桩清单、1..250 游标分页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user：手机号查询、冻结 / 解冻；冻结策略与用户端统一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pile.restart：只允许 fault / offline，写 restart log，不打断 charging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657600"/>
            <a:ext cx="6675120" cy="192024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931920"/>
            <a:ext cx="3063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CJK SC"/>
              </a:rPr>
              <a:t>1 MiB 安全的全量桩清单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379976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9EDBD5"/>
                </a:solidFill>
                <a:latin typeface="DejaVu Sans"/>
              </a:rPr>
              <a:t>after_id + limit → piles + next_after_id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846320"/>
            <a:ext cx="53949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D9EAF2"/>
                </a:solidFill>
                <a:latin typeface="Noto Sans CJK SC"/>
              </a:rPr>
              <a:t>响应过大时缩小页，不把非法帧发给客户端。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08 · 地图服务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地图服务：Provider、缓存、审计与站点聚合各自负责一件事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783080" cy="1188720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600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02A43"/>
                </a:solidFill>
                <a:latin typeface="Noto Sans CJK SC"/>
              </a:rPr>
              <a:t>请求规范化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87168"/>
            <a:ext cx="160020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50" b="0" i="0">
                <a:solidFill>
                  <a:srgbClr val="243B53"/>
                </a:solidFill>
                <a:latin typeface="Noto Sans CJK SC"/>
              </a:rPr>
              <a:t>origin / radius /
page /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920240"/>
            <a:ext cx="1783080" cy="1188720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084831"/>
            <a:ext cx="1600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02A43"/>
                </a:solidFill>
                <a:latin typeface="Noto Sans CJK SC"/>
              </a:rPr>
              <a:t>缓存层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487168"/>
            <a:ext cx="160020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50" b="0" i="0">
                <a:solidFill>
                  <a:srgbClr val="243B53"/>
                </a:solidFill>
                <a:latin typeface="Noto Sans CJK SC"/>
              </a:rPr>
              <a:t>fresh / stale
page continuation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920240"/>
            <a:ext cx="1783080" cy="1188720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2084831"/>
            <a:ext cx="1600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02A43"/>
                </a:solidFill>
                <a:latin typeface="Noto Sans CJK SC"/>
              </a:rPr>
              <a:t>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2487168"/>
            <a:ext cx="160020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50" b="0" i="0">
                <a:solidFill>
                  <a:srgbClr val="243B53"/>
                </a:solidFill>
                <a:latin typeface="Noto Sans CJK SC"/>
              </a:rPr>
              <a:t>server_mock
Tencent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31736" y="1920240"/>
            <a:ext cx="1783080" cy="118872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2084831"/>
            <a:ext cx="1600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02A43"/>
                </a:solidFill>
                <a:latin typeface="Noto Sans CJK SC"/>
              </a:rPr>
              <a:t>站点事务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487168"/>
            <a:ext cx="160020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50" b="0" i="0">
                <a:solidFill>
                  <a:srgbClr val="243B53"/>
                </a:solidFill>
                <a:latin typeface="Noto Sans CJK SC"/>
              </a:rPr>
              <a:t>upsert POI
生成 4–12 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920240"/>
            <a:ext cx="1783080" cy="1188720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084831"/>
            <a:ext cx="1600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02A43"/>
                </a:solidFill>
                <a:latin typeface="Noto Sans CJK SC"/>
              </a:rPr>
              <a:t>审计响应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487168"/>
            <a:ext cx="160020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50" b="0" i="0">
                <a:solidFill>
                  <a:srgbClr val="243B53"/>
                </a:solidFill>
                <a:latin typeface="Noto Sans CJK SC"/>
              </a:rPr>
              <a:t>source / warning
request replay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2514600"/>
            <a:ext cx="347472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53712" y="2514600"/>
            <a:ext cx="347472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84264" y="2514600"/>
            <a:ext cx="347472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4816" y="2514600"/>
            <a:ext cx="347472" cy="0"/>
          </a:xfrm>
          <a:prstGeom prst="line">
            <a:avLst/>
          </a:prstGeom>
          <a:ln w="2286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3703320"/>
            <a:ext cx="514807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950208"/>
            <a:ext cx="1371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B8F8C"/>
                </a:solidFill>
                <a:latin typeface="Noto Sans CJK SC"/>
              </a:rPr>
              <a:t>数据源优先级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343400"/>
            <a:ext cx="452628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fresh cache 命中：复用当前页 continuation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stale cache：先尝试上游，失败才降级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server_mock：无 key 也能演示，响应携带 source / warning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703320"/>
            <a:ext cx="53035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950208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D96C3A"/>
                </a:solidFill>
                <a:latin typeface="Noto Sans CJK SC"/>
              </a:rPr>
              <a:t>幂等边界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343400"/>
            <a:ext cx="473659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map.station.search 可能创建站点：成功响应进入 request_records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map.route.plan / audit.list 是只读，但每次尝试都有 map audit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审计表不存 key、完整 URL 或原始响应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32120"/>
            <a:ext cx="10744200" cy="4754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586983"/>
            <a:ext cx="105247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地图结果不仅“返回数据”，还返回数据来源和降级事实，客户端因此可以诚实展示状态。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09 · 外部服务适配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腾讯真实接入：按 count 续拉上游分页，再由服务端切页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3182112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08760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server/src/map/tencent_client.cpp:407-461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4837176" cy="2743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for (int pageIndex = 1;
     pageIndex &lt;= kTencentMaxPages; ++pageIndex) {
    page_size = 20;
    page_index = pageIndex;
    get("/ws/place/v1/search");
    fetched += data.size();
    if (fetched &gt;= providerCount
        || data.isEmpty()) break;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5780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1907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D96C3A"/>
                </a:solidFill>
                <a:latin typeface="Noto Sans CJK SC"/>
              </a:rPr>
              <a:t>为什么必须这样做？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52628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腾讯 page_size 固定 20 只代表单次上限，不代表全量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读取 count，继续请求 page_index=2..N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汇总有效 POI、按距离排序后，才执行协议 page_size / page_token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因此附近超过 20 个站点时，服务端仍能正确续读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882896"/>
            <a:ext cx="5257800" cy="713232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020056"/>
            <a:ext cx="480060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1" i="0">
                <a:solidFill>
                  <a:srgbClr val="D96C3A"/>
                </a:solidFill>
                <a:latin typeface="Noto Sans CJK SC"/>
              </a:rPr>
              <a:t>官方 boundary：nearby(lat,lng,radius)
错误码：配额 / 权限 / 超时 / 无结果统一映射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779008"/>
            <a:ext cx="10744200" cy="384048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DD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833872"/>
            <a:ext cx="10524744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0B8F8C"/>
                </a:solidFill>
                <a:latin typeface="Noto Sans CJK SC"/>
              </a:rPr>
              <a:t>评审修复：上游分页完整性 + 服务端分页完整性，两层分页不再混淆。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10 · 模拟器闭环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桩模拟器集群：模拟器提议，服务端裁决并持久化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703320" cy="356616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10512"/>
            <a:ext cx="31546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7452A8"/>
                </a:solidFill>
                <a:latin typeface="Noto Sans CJK SC"/>
              </a:rPr>
              <a:t>SQLite-free SimulatorCluster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67712"/>
            <a:ext cx="315468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40">
                <a:solidFill>
                  <a:srgbClr val="243B53"/>
                </a:solidFill>
                <a:latin typeface="Noto Sans CJK SC"/>
              </a:defRPr>
            </a:pPr>
            <a:r>
              <a:t>• register：接收 server snapshot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40">
                <a:solidFill>
                  <a:srgbClr val="243B53"/>
                </a:solidFill>
                <a:latin typeface="Noto Sans CJK SC"/>
              </a:defRPr>
            </a:pPr>
            <a:r>
              <a:t>• command：reserve / start / stop / settle / restart 反馈 ACK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40">
                <a:solidFill>
                  <a:srgbClr val="243B53"/>
                </a:solidFill>
                <a:latin typeface="Noto Sans CJK SC"/>
              </a:defRPr>
            </a:pPr>
            <a:r>
              <a:t>• tick：seed + tick + pile_id → deterministic proposal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40">
                <a:solidFill>
                  <a:srgbClr val="243B53"/>
                </a:solidFill>
                <a:latin typeface="Noto Sans CJK SC"/>
              </a:defRPr>
            </a:pPr>
            <a:r>
              <a:t>• 断线：重新注册，不直接写业务库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3730752"/>
            <a:ext cx="3154680" cy="1225296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14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822191"/>
            <a:ext cx="282549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8FB3CE"/>
                </a:solidFill>
                <a:latin typeface="DejaVu Sans"/>
              </a:rPr>
              <a:t>services/pile-simulator/pile_simulator.py:141-164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4078224"/>
            <a:ext cx="2825496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D8F3DC"/>
                </a:solidFill>
                <a:latin typeface="DejaVu Sans Mono"/>
              </a:rPr>
              <a:t>expected_versions[str(station.id)] = version
changes = [{pile_id, from, to, reason}]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508760"/>
            <a:ext cx="2103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828800"/>
            <a:ext cx="169164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02A43"/>
                </a:solidFill>
                <a:latin typeface="Noto Sans CJK SC"/>
              </a:rPr>
              <a:t>simulator.tick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50592"/>
            <a:ext cx="1371600" cy="9509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Noto Sans CJK SC"/>
              </a:rPr>
              <a:t>proposal
↓
校验输入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913632"/>
            <a:ext cx="14630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20" b="0" i="0">
                <a:solidFill>
                  <a:srgbClr val="627D98"/>
                </a:solidFill>
                <a:latin typeface="Noto Sans CJK SC"/>
              </a:rPr>
              <a:t>expected_versions
changes
tick_id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89120" y="3291840"/>
            <a:ext cx="457200" cy="0"/>
          </a:xfrm>
          <a:prstGeom prst="line">
            <a:avLst/>
          </a:prstGeom>
          <a:ln w="25400">
            <a:solidFill>
              <a:srgbClr val="74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508760"/>
            <a:ext cx="4023360" cy="3566160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1810512"/>
            <a:ext cx="3520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0B8F8C"/>
                </a:solidFill>
                <a:latin typeface="Noto Sans CJK SC"/>
              </a:rPr>
              <a:t>SimulationGateway +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267712"/>
            <a:ext cx="338328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校验 simulator / seed / snapshot version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禁止覆盖 reserved / charging / active order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BEGIN IMMEDIATE 内更新桩、事件、snapshot_version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同 simulator_id + tick_id 原样重放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0" y="3291840"/>
            <a:ext cx="457200" cy="0"/>
          </a:xfrm>
          <a:prstGeom prst="line">
            <a:avLst/>
          </a:prstGeom>
          <a:ln w="25400">
            <a:solidFill>
              <a:srgbClr val="0B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5532120"/>
            <a:ext cx="10744200" cy="475488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F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586983"/>
            <a:ext cx="105247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D96C3A"/>
                </a:solidFill>
                <a:latin typeface="Noto Sans CJK SC"/>
              </a:rPr>
              <a:t>P1 修复：inactive / different-seed 站点不再污染 expected_versions，其他匹配站点可继续 tick。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11 · 审计与异常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可观察性：每次状态变化都有来源、时间和可追溯记录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97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627D98"/>
                </a:solidFill>
                <a:latin typeface="Noto Sans CJK SC"/>
              </a:rPr>
              <a:t>状态变化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874519" cy="1298448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165506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50" b="1" i="0">
                <a:solidFill>
                  <a:srgbClr val="102A43"/>
                </a:solidFill>
                <a:latin typeface="Noto Sans CJK SC"/>
              </a:rPr>
              <a:t>业务请求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42032"/>
            <a:ext cx="165506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80" b="0" i="0">
                <a:solidFill>
                  <a:srgbClr val="243B53"/>
                </a:solidFill>
                <a:latin typeface="Noto Sans CJK SC"/>
              </a:rPr>
              <a:t>request_records
原始成功响应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74519"/>
            <a:ext cx="1874519" cy="1298448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103120"/>
            <a:ext cx="165506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50" b="1" i="0">
                <a:solidFill>
                  <a:srgbClr val="102A43"/>
                </a:solidFill>
                <a:latin typeface="Noto Sans CJK SC"/>
              </a:rPr>
              <a:t>地图调用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42032"/>
            <a:ext cx="165506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80" b="0" i="0">
                <a:solidFill>
                  <a:srgbClr val="243B53"/>
                </a:solidFill>
                <a:latin typeface="Noto Sans CJK SC"/>
              </a:rPr>
              <a:t>map_request_logs
upstream_call_logs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874519"/>
            <a:ext cx="1874519" cy="1298448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03120"/>
            <a:ext cx="165506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50" b="1" i="0">
                <a:solidFill>
                  <a:srgbClr val="102A43"/>
                </a:solidFill>
                <a:latin typeface="Noto Sans CJK SC"/>
              </a:rPr>
              <a:t>桩状态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42032"/>
            <a:ext cx="165506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80" b="0" i="0">
                <a:solidFill>
                  <a:srgbClr val="243B53"/>
                </a:solidFill>
                <a:latin typeface="Noto Sans CJK SC"/>
              </a:rPr>
              <a:t>pile_status_events
status_source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624" y="1874519"/>
            <a:ext cx="1874519" cy="1298448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2103120"/>
            <a:ext cx="165506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50" b="1" i="0">
                <a:solidFill>
                  <a:srgbClr val="102A43"/>
                </a:solidFill>
                <a:latin typeface="Noto Sans CJK SC"/>
              </a:rPr>
              <a:t>模拟 tick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542032"/>
            <a:ext cx="165506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80" b="0" i="0">
                <a:solidFill>
                  <a:srgbClr val="243B53"/>
                </a:solidFill>
                <a:latin typeface="Noto Sans CJK SC"/>
              </a:rPr>
              <a:t>simulation_tick_records
accepted / conflict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4896" y="1874519"/>
            <a:ext cx="1874519" cy="1298448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4624" y="2103120"/>
            <a:ext cx="165506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50" b="1" i="0">
                <a:solidFill>
                  <a:srgbClr val="102A43"/>
                </a:solidFill>
                <a:latin typeface="Noto Sans CJK SC"/>
              </a:rPr>
              <a:t>管理员动作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2542032"/>
            <a:ext cx="165506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80" b="0" i="0">
                <a:solidFill>
                  <a:srgbClr val="243B53"/>
                </a:solidFill>
                <a:latin typeface="Noto Sans CJK SC"/>
              </a:rPr>
              <a:t>pile_restart_logs
result + actor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24328" y="2523744"/>
            <a:ext cx="301752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00600" y="2523744"/>
            <a:ext cx="301752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76872" y="2523744"/>
            <a:ext cx="301752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53144" y="2523744"/>
            <a:ext cx="301752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3776472"/>
            <a:ext cx="5166360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041648"/>
            <a:ext cx="1234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CJK SC"/>
              </a:rPr>
              <a:t>统一错误码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62272"/>
            <a:ext cx="44348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D9EAF2"/>
                </a:solidFill>
                <a:latin typeface="DejaVu Sans"/>
              </a:rPr>
              <a:t>1000–1003  协议 / 请求
1100–1202  鉴权 / 状态 / 余额
1300        数据库
1400–1410  地图
1500        内部异常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776472"/>
            <a:ext cx="53035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041648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B8F8C"/>
                </a:solidFill>
                <a:latin typeface="Noto Sans CJK SC"/>
              </a:rPr>
              <a:t>异常路径的共同语义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462272"/>
            <a:ext cx="46634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失败不静默：客户端拿到稳定 code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事务不半提交：状态、余额、流水一起回滚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243B53"/>
                </a:solidFill>
                <a:latin typeface="Noto Sans CJK SC"/>
              </a:defRPr>
            </a:pPr>
            <a:r>
              <a:t>• 审计不泄密：不记录 key / 原始外部响应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12 · 测试与证据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验证证据：构建、单测、真实上游和回归分层完成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3429000" cy="1097280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36776"/>
            <a:ext cx="311810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1" i="0">
                <a:solidFill>
                  <a:srgbClr val="102A43"/>
                </a:solidFill>
                <a:latin typeface="Noto Sans CJK SC"/>
              </a:rPr>
              <a:t>Protocol /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3118104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243B53"/>
                </a:solidFill>
                <a:latin typeface="Noto Sans CJK SC"/>
              </a:rPr>
              <a:t>qmake6 + Qt 6.2.4
协议、Schema、迁移回滚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81328"/>
            <a:ext cx="3429000" cy="1097280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36776"/>
            <a:ext cx="311810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1" i="0">
                <a:solidFill>
                  <a:srgbClr val="102A43"/>
                </a:solidFill>
                <a:latin typeface="Noto Sans CJK SC"/>
              </a:rPr>
              <a:t>Server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93392"/>
            <a:ext cx="3118104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243B53"/>
                </a:solidFill>
                <a:latin typeface="Noto Sans CJK SC"/>
              </a:rPr>
              <a:t>server/tests/smoke.py
concurrency.py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481328"/>
            <a:ext cx="3429000" cy="1097280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36776"/>
            <a:ext cx="311810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1" i="0">
                <a:solidFill>
                  <a:srgbClr val="102A43"/>
                </a:solidFill>
                <a:latin typeface="Noto Sans CJK SC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93392"/>
            <a:ext cx="3118104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243B53"/>
                </a:solidFill>
                <a:latin typeface="Noto Sans CJK SC"/>
              </a:rPr>
              <a:t>tencent_client.pro
map.py / map_live.py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07792"/>
            <a:ext cx="3429000" cy="109728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63240"/>
            <a:ext cx="311810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1" i="0">
                <a:solidFill>
                  <a:srgbClr val="102A43"/>
                </a:solidFill>
                <a:latin typeface="Noto Sans CJK SC"/>
              </a:rPr>
              <a:t>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419856"/>
            <a:ext cx="3118104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243B53"/>
                </a:solidFill>
                <a:latin typeface="Noto Sans CJK SC"/>
              </a:rPr>
              <a:t>simulation_gateway.pro
C++ gateway test + Python 6/6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907792"/>
            <a:ext cx="3429000" cy="1097280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063240"/>
            <a:ext cx="311810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1" i="0">
                <a:solidFill>
                  <a:srgbClr val="102A43"/>
                </a:solidFill>
                <a:latin typeface="Noto Sans CJK SC"/>
              </a:rPr>
              <a:t>Compatibility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19856"/>
            <a:ext cx="3118104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243B53"/>
                </a:solidFill>
                <a:latin typeface="Noto Sans CJK SC"/>
              </a:rPr>
              <a:t>用户端主程序构建通过
A/C 端沿用同一 protocol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2907792"/>
            <a:ext cx="3429000" cy="1097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3063240"/>
            <a:ext cx="311810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Noto Sans CJK SC"/>
              </a:rPr>
              <a:t>Review regressions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419856"/>
            <a:ext cx="3118104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30" b="0" i="0">
                <a:solidFill>
                  <a:srgbClr val="D9EAF2"/>
                </a:solidFill>
                <a:latin typeface="Noto Sans CJK SC"/>
              </a:rPr>
              <a:t>缓存分页续读
腾讯上游分页
seed / inactive guard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1079906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64608"/>
            <a:ext cx="1417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0B8F8C"/>
                </a:solidFill>
                <a:latin typeface="Noto Sans CJK SC"/>
              </a:rPr>
              <a:t>权威构建路径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" y="4864608"/>
            <a:ext cx="81381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2A43"/>
                </a:solidFill>
                <a:latin typeface="DejaVu Sans"/>
              </a:rPr>
              <a:t>qmake6 --version → qmake6 &lt;module&gt;.pro → make -j2 → executable /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57800"/>
            <a:ext cx="9692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627D98"/>
                </a:solidFill>
                <a:latin typeface="Noto Sans CJK SC"/>
              </a:rPr>
              <a:t>不使用 CMake 作为验收依据；构建产物与真实 key 均不进 Git。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13 · 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答辩演示脚本：从空库启动，到真实状态闭环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783080" cy="2157984"/>
          </a:xfrm>
          <a:prstGeom prst="roundRect">
            <a:avLst/>
          </a:prstGeom>
          <a:solidFill>
            <a:srgbClr val="DDF3F0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0195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0B8F8C"/>
                </a:solidFill>
                <a:latin typeface="DejaVu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4288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02A43"/>
                </a:solidFill>
                <a:latin typeface="Noto Sans CJK SC"/>
              </a:rPr>
              <a:t>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79776"/>
            <a:ext cx="151790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43B53"/>
                </a:solidFill>
                <a:latin typeface="Noto Sans CJK SC"/>
              </a:rPr>
              <a:t>Schema v0.4
server + seed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2770632"/>
            <a:ext cx="301751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691640"/>
            <a:ext cx="1783080" cy="2157984"/>
          </a:xfrm>
          <a:prstGeom prst="roundRect">
            <a:avLst/>
          </a:prstGeom>
          <a:solidFill>
            <a:srgbClr val="E6EEFF"/>
          </a:solidFill>
          <a:ln w="12700">
            <a:solidFill>
              <a:srgbClr val="2F6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90195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2F6BDB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304288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02A43"/>
                </a:solidFill>
                <a:latin typeface="Noto Sans CJK SC"/>
              </a:rPr>
              <a:t>用户链路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779776"/>
            <a:ext cx="151790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43B53"/>
                </a:solidFill>
                <a:latin typeface="Noto Sans CJK SC"/>
              </a:rPr>
              <a:t>login → station.list
reservation → charging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2770632"/>
            <a:ext cx="301752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56048" y="1691640"/>
            <a:ext cx="1783080" cy="2157984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90195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D96C3A"/>
                </a:solidFill>
                <a:latin typeface="DejaVu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304288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02A43"/>
                </a:solidFill>
                <a:latin typeface="Noto Sans CJK SC"/>
              </a:rPr>
              <a:t>资金链路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779776"/>
            <a:ext cx="151790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43B53"/>
                </a:solidFill>
                <a:latin typeface="Noto Sans CJK SC"/>
              </a:rPr>
              <a:t>stop → pending_settlement
settle / insufficient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39128" y="2770632"/>
            <a:ext cx="301751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77456" y="1691640"/>
            <a:ext cx="1783080" cy="2157984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74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190195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7452A8"/>
                </a:solidFill>
                <a:latin typeface="DejaVu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304288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02A43"/>
                </a:solidFill>
                <a:latin typeface="Noto Sans CJK SC"/>
              </a:rPr>
              <a:t>管理链路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779776"/>
            <a:ext cx="151790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43B53"/>
                </a:solidFill>
                <a:latin typeface="Noto Sans CJK SC"/>
              </a:rPr>
              <a:t>admin.login
statistics / pile.restart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60536" y="2770632"/>
            <a:ext cx="301752" cy="0"/>
          </a:xfrm>
          <a:prstGeom prst="line">
            <a:avLst/>
          </a:prstGeom>
          <a:ln w="1905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98864" y="1691640"/>
            <a:ext cx="1783080" cy="2157984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90195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2C8C5A"/>
                </a:solidFill>
                <a:latin typeface="DejaVu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04288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02A43"/>
                </a:solidFill>
                <a:latin typeface="Noto Sans CJK SC"/>
              </a:rPr>
              <a:t>地图与模拟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779776"/>
            <a:ext cx="151790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43B53"/>
                </a:solidFill>
                <a:latin typeface="Noto Sans CJK SC"/>
              </a:rPr>
              <a:t>map search / route
simulator tick + 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343400"/>
            <a:ext cx="10268712" cy="10241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608576"/>
            <a:ext cx="1645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oto Sans CJK SC"/>
              </a:rPr>
              <a:t>可现场制造的异常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4608576"/>
            <a:ext cx="75895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70" b="0" i="0">
                <a:solidFill>
                  <a:srgbClr val="D9EAF2"/>
                </a:solidFill>
                <a:latin typeface="DejaVu Sans"/>
              </a:rPr>
              <a:t>坏帧 → 1001   |   frozen → 1101   |   重复订单 / stale snapshot → 1201   |   余额不足 → 1202   |   Tencent 配额 → 1404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687568"/>
            <a:ext cx="10268712" cy="411480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F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742431"/>
            <a:ext cx="10049256" cy="3017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D96C3A"/>
                </a:solidFill>
                <a:latin typeface="Noto Sans CJK SC"/>
              </a:rPr>
              <a:t>演示口径：Mock、真实 Tencent、服务端事务和 simulator gateway 的边界分别标明，不混淆。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B8F8C"/>
                </a:solidFill>
                <a:latin typeface="DejaVu Sans"/>
              </a:rPr>
              <a:t>14 · 边界与后续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07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2A43"/>
                </a:solidFill>
                <a:latin typeface="Noto Sans CJK SC"/>
              </a:rPr>
              <a:t>完成版边界：阶段一可演示，生产化事项明确列出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6510528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627D98"/>
                </a:solidFill>
                <a:latin typeface="DejaVu Sans"/>
              </a:rPr>
              <a:t>B 端后端实现 ·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193792" cy="4160520"/>
          </a:xfrm>
          <a:prstGeom prst="roundRect">
            <a:avLst/>
          </a:prstGeom>
          <a:solidFill>
            <a:srgbClr val="E2F3E9"/>
          </a:solidFill>
          <a:ln w="127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73936"/>
            <a:ext cx="2148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2C8C5A"/>
                </a:solidFill>
                <a:latin typeface="Noto Sans CJK SC"/>
              </a:rPr>
              <a:t>已完成 / 可答辩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480560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Protocol v1：帧、envelope、错误码、1 MiB 防线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Schema v0.4：迁移、状态、钱包、审计、桩事件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用户 / 管理员 / 订单完整服务端 handler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Tencent：geocoder、POI、route、上游分页与缓存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桩模拟器：命令反馈、deterministic tick、gateway 原子写入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qmake6、smoke、map、gateway、Python 回归证据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81328"/>
            <a:ext cx="5193792" cy="4160520"/>
          </a:xfrm>
          <a:prstGeom prst="roundRect">
            <a:avLst/>
          </a:prstGeom>
          <a:solidFill>
            <a:srgbClr val="FCE9DF"/>
          </a:solidFill>
          <a:ln w="12700">
            <a:solidFill>
              <a:srgbClr val="D96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73936"/>
            <a:ext cx="2148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D96C3A"/>
                </a:solidFill>
                <a:latin typeface="Noto Sans CJK SC"/>
              </a:rPr>
              <a:t>已知边界 / 后续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04288"/>
            <a:ext cx="4480560" cy="2057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数据库与外部 HTTP 当前同步执行于 Socket event loop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cache miss 合并、定时清理任务尚未做生产化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private mTLS listener、heartbeat 指标待接入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智能分析模型属于 S2，不阻塞 S1 充电闭环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220">
                <a:solidFill>
                  <a:srgbClr val="243B53"/>
                </a:solidFill>
                <a:latin typeface="Noto Sans CJK SC"/>
              </a:defRPr>
            </a:pPr>
            <a:r>
              <a:t>• 真实密钥只走运行时环境，不写入代码、数据库和 PPT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806440"/>
            <a:ext cx="1074420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861303"/>
            <a:ext cx="10524744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答辩表达：完成项讲实现和证据；边界项讲原因和下一步，不把演示条件包装成生产能力。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41248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Noto Sans CJK SC"/>
              </a:rPr>
              <a:t>B 端的核心贡献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41248" y="1444752"/>
            <a:ext cx="4416552" cy="0"/>
          </a:xfrm>
          <a:prstGeom prst="line">
            <a:avLst/>
          </a:prstGeom>
          <a:ln w="38100">
            <a:solidFill>
              <a:srgbClr val="0B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68680" y="1965960"/>
            <a:ext cx="530352" cy="530352"/>
          </a:xfrm>
          <a:prstGeom prst="roundRect">
            <a:avLst/>
          </a:prstGeom>
          <a:solidFill>
            <a:srgbClr val="0B8F8C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79"/>
            <a:ext cx="5303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5064" y="1956816"/>
            <a:ext cx="5303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Noto Sans CJK SC"/>
              </a:rPr>
              <a:t>让请求可被可靠地传输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" y="2295144"/>
            <a:ext cx="65836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BBD1DE"/>
                </a:solidFill>
                <a:latin typeface="Noto Sans CJK SC"/>
              </a:rPr>
              <a:t>Protocol v1 + 统一 dispatcher + 错误码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35808"/>
            <a:ext cx="530352" cy="530352"/>
          </a:xfrm>
          <a:prstGeom prst="roundRect">
            <a:avLst/>
          </a:prstGeom>
          <a:solidFill>
            <a:srgbClr val="0B8F8C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81527"/>
            <a:ext cx="5303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3026664"/>
            <a:ext cx="5303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Noto Sans CJK SC"/>
              </a:rPr>
              <a:t>让业务状态不会互相打架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3364991"/>
            <a:ext cx="65836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BBD1DE"/>
                </a:solidFill>
                <a:latin typeface="Noto Sans CJK SC"/>
              </a:rPr>
              <a:t>SQLite 事务 + 状态机 + 幂等 + 审计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05656"/>
            <a:ext cx="530352" cy="530352"/>
          </a:xfrm>
          <a:prstGeom prst="roundRect">
            <a:avLst/>
          </a:prstGeom>
          <a:solidFill>
            <a:srgbClr val="0B8F8C"/>
          </a:solidFill>
          <a:ln w="12700">
            <a:solidFill>
              <a:srgbClr val="0B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51376"/>
            <a:ext cx="5303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4096512"/>
            <a:ext cx="5303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Noto Sans CJK SC"/>
              </a:rPr>
              <a:t>让外部能力和模拟设备可控接入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4434840"/>
            <a:ext cx="65836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BBD1DE"/>
                </a:solidFill>
                <a:latin typeface="Noto Sans CJK SC"/>
              </a:rPr>
              <a:t>Tencent adapter + cache + simulator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371600"/>
            <a:ext cx="3337560" cy="3840480"/>
          </a:xfrm>
          <a:prstGeom prst="roundRect">
            <a:avLst/>
          </a:prstGeom>
          <a:solidFill>
            <a:srgbClr val="183A54"/>
          </a:solidFill>
          <a:ln w="12700">
            <a:solidFill>
              <a:srgbClr val="315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719072"/>
            <a:ext cx="2560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9EDBD5"/>
                </a:solidFill>
                <a:latin typeface="Noto Sans CJK SC"/>
              </a:rPr>
              <a:t>一句话总结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04288"/>
            <a:ext cx="2724912" cy="1737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Noto Sans CJK SC"/>
              </a:rPr>
              <a:t>客户端看到的是接口，
系统真正依赖的是
服务端对状态、数据和失败
的统一裁决。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599432"/>
            <a:ext cx="272491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9EDBD5"/>
                </a:solidFill>
                <a:latin typeface="Noto Sans CJK SC"/>
              </a:rPr>
              <a:t>谢谢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53328"/>
            <a:ext cx="5303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9FB8C8"/>
                </a:solidFill>
                <a:latin typeface="Noto Sans CJK SC"/>
              </a:rPr>
              <a:t>B 端后端实现与答辩汇报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